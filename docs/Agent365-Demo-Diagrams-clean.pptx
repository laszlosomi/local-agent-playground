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365 third-party agent registry demo. Build order: 1 Entra integration, 2 Observability SDK, 3 Purview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Agent3: a working local agent without Agent 365 integration. Move to Agent2: registered and observable, with the Purview SDK still enabled but outside the Dallas-block policy. Finish with Agent1: the same Dallas prompt is blocked by Purview before the model runs. San Francisco works in all three. Permissions enable the integration; policy targeting determines enforcement.
Preparation required: Agent3 has not been created. The current DLP setup script targets both registered instances. Scope the Dallas-block policy to Agent1 only and verify Agent2 is not blocked before presenting this comparison. A separate collection policy can capture Agent2 prompt/response content without applying the Dallas-block rule.
Source: presenter-script.md · intended comparison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integration points: ① an identity in Entra, ② an entry in the registry, ③ telemetry through the Observability SDK, and ④ data security through the Purview SDK. The agent keeps running where it is. Only identity, telemetry and the Purview API calls go to Microsoft.
Build order (left column, top to bottom): 1 Entra integration comes first (the A365 CLI creates the blueprint, agent identity and registry entry, and the app uses MSAL OBO at runtime), then 2 the Observability SDK, and 3 the Purview SDK last.
Purview SDK: prompt/response text, policy verdicts
OpenTelemetry: activity telemetry, no policy enforcement
Source: README.md, 02-register.md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and the response go from LangGraph to Purview through the Purview SDK (processContent), before the LLM runs and before the answer is shown. That's where DLP decides allow or block. OpenTelemetry carries activity telemetry to Defender, Purview Audit and the admin center, but it does not evaluate or enforce prompt/response policies.
Purview SDK path: prompt and response go to Purview for policy
OpenTelemetry path: telemetry only
Source: README.md · code: agent/app.py, agent/guard.py, agent/purview.py, agent/telemetry.py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presenter-script.md (≈35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01-run-agent.md, 02-register.md, 05-phase2-dlp-ca.md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three objects? The blueprint is the template and credential holder, and it carries the inheritable permissions (Purview SDK and Observability scopes) that every agent identity gets. The agent identity is the runtime principal. Blueprints can't do interactive sign‑in, so a normal app registration signs the user in.
Source: 02-register.md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02-register.md · code: agent/auth.py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channels: the Purview SDK calls carry the prompt and answer text and return a verdict. The OTel spans (invoke_agent, chat, execute_tool) carry gen_ai.agent.id, gen_ai.conversation.id, microsoft.tenant.id, user.id / user.email and client.address for Defender, Purview Audit and the admin center.
Source: 01-run-agent.md, 05-phase2-dlp-ca.md · code: agent/app.py, agent/guard.py, agent/purview.py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on this path: prompt/response policy evaluation. DLP verdicts and the prompt/response text in Activity explorer come from the Purview SDK (processContent), slide 9.
Source: 03-observability.md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05-phase2-dlp-ca.md · script: scripts/New-PurviewDlpDemo.ps1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05-phase2-dlp-ca.md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731520" y="1188720"/>
            <a:ext cx="7315200" cy="548640"/>
          </a:xfrm>
          <a:prstGeom prst="rect">
            <a:avLst/>
          </a:prstGeom>
          <a:noFill/>
          <a:ln/>
        </p:spPr>
        <p:txBody>
          <a:bodyPr wrap="square" lIns="0" tIns="0" rIns="0" bIns="0" rtlCol="0" anchor="ctr"/>
          <a:lstStyle/>
          <a:p>
            <a:pPr indent="0" marL="0">
              <a:buNone/>
            </a:pPr>
            <a:r>
              <a:rPr lang="en-US" sz="2200" b="1" dirty="0">
                <a:solidFill>
                  <a:srgbClr val="B11F4B"/>
                </a:solidFill>
                <a:latin typeface="Segoe UI" pitchFamily="34" charset="0"/>
                <a:ea typeface="Segoe UI" pitchFamily="34" charset="-122"/>
                <a:cs typeface="Segoe UI" pitchFamily="34" charset="-120"/>
              </a:rPr>
              <a:t>Agent 365</a:t>
            </a:r>
            <a:endParaRPr lang="en-US" sz="2200" dirty="0"/>
          </a:p>
        </p:txBody>
      </p:sp>
      <p:sp>
        <p:nvSpPr>
          <p:cNvPr id="3" name="Text 1"/>
          <p:cNvSpPr/>
          <p:nvPr/>
        </p:nvSpPr>
        <p:spPr>
          <a:xfrm>
            <a:off x="731520" y="1737360"/>
            <a:ext cx="10058400" cy="914400"/>
          </a:xfrm>
          <a:prstGeom prst="rect">
            <a:avLst/>
          </a:prstGeom>
          <a:noFill/>
          <a:ln/>
        </p:spPr>
        <p:txBody>
          <a:bodyPr wrap="square" lIns="0" tIns="0" rIns="0" bIns="0" rtlCol="0" anchor="ctr"/>
          <a:lstStyle/>
          <a:p>
            <a:pPr indent="0" marL="0">
              <a:buNone/>
            </a:pPr>
            <a:r>
              <a:rPr lang="en-US" sz="4400" b="1" dirty="0">
                <a:solidFill>
                  <a:srgbClr val="242424"/>
                </a:solidFill>
                <a:latin typeface="Segoe UI" pitchFamily="34" charset="0"/>
                <a:ea typeface="Segoe UI" pitchFamily="34" charset="-122"/>
                <a:cs typeface="Segoe UI" pitchFamily="34" charset="-120"/>
              </a:rPr>
              <a:t>Third-party agent registry demo</a:t>
            </a:r>
            <a:endParaRPr lang="en-US" sz="4400" dirty="0"/>
          </a:p>
        </p:txBody>
      </p:sp>
      <p:sp>
        <p:nvSpPr>
          <p:cNvPr id="4" name="Text 2"/>
          <p:cNvSpPr/>
          <p:nvPr/>
        </p:nvSpPr>
        <p:spPr>
          <a:xfrm>
            <a:off x="731520" y="2697480"/>
            <a:ext cx="9601200" cy="822960"/>
          </a:xfrm>
          <a:prstGeom prst="rect">
            <a:avLst/>
          </a:prstGeom>
          <a:noFill/>
          <a:ln/>
        </p:spPr>
        <p:txBody>
          <a:bodyPr wrap="square" lIns="0" tIns="0" rIns="0" bIns="0" rtlCol="0" anchor="ctr"/>
          <a:lstStyle/>
          <a:p>
            <a:pPr indent="0" marL="0">
              <a:buNone/>
            </a:pPr>
            <a:r>
              <a:rPr lang="en-US" sz="1800" dirty="0">
                <a:solidFill>
                  <a:srgbClr val="5C5C5C"/>
                </a:solidFill>
                <a:latin typeface="Segoe UI" pitchFamily="34" charset="0"/>
                <a:ea typeface="Segoe UI" pitchFamily="34" charset="-122"/>
                <a:cs typeface="Segoe UI" pitchFamily="34" charset="-120"/>
              </a:rPr>
              <a:t>A local LangGraph agent registered in Microsoft Entra Agent ID, instrumented with the Agent 365 Observability SDK and protected by the Purview SDK.</a:t>
            </a:r>
            <a:endParaRPr lang="en-US" sz="1800" dirty="0"/>
          </a:p>
        </p:txBody>
      </p:sp>
      <p:sp>
        <p:nvSpPr>
          <p:cNvPr id="5" name="Shape 3"/>
          <p:cNvSpPr/>
          <p:nvPr/>
        </p:nvSpPr>
        <p:spPr>
          <a:xfrm>
            <a:off x="731520" y="4160520"/>
            <a:ext cx="3383280" cy="1325880"/>
          </a:xfrm>
          <a:prstGeom prst="rect">
            <a:avLst/>
          </a:prstGeom>
          <a:solidFill>
            <a:srgbClr val="FCFBF8"/>
          </a:solidFill>
          <a:ln w="12700">
            <a:solidFill>
              <a:srgbClr val="FCFBF8"/>
            </a:solidFill>
            <a:prstDash val="solid"/>
          </a:ln>
        </p:spPr>
      </p:sp>
      <p:sp>
        <p:nvSpPr>
          <p:cNvPr id="6" name="Shape 4"/>
          <p:cNvSpPr/>
          <p:nvPr/>
        </p:nvSpPr>
        <p:spPr>
          <a:xfrm>
            <a:off x="731520" y="4160520"/>
            <a:ext cx="3383280" cy="73152"/>
          </a:xfrm>
          <a:prstGeom prst="rect">
            <a:avLst/>
          </a:prstGeom>
          <a:solidFill>
            <a:srgbClr val="B11F4B"/>
          </a:solidFill>
          <a:ln w="12700">
            <a:solidFill>
              <a:srgbClr val="B11F4B"/>
            </a:solidFill>
            <a:prstDash val="solid"/>
          </a:ln>
        </p:spPr>
      </p:sp>
      <p:sp>
        <p:nvSpPr>
          <p:cNvPr id="7" name="Shape 5"/>
          <p:cNvSpPr/>
          <p:nvPr/>
        </p:nvSpPr>
        <p:spPr>
          <a:xfrm>
            <a:off x="960120" y="4480560"/>
            <a:ext cx="566928" cy="566928"/>
          </a:xfrm>
          <a:prstGeom prst="ellipse">
            <a:avLst/>
          </a:prstGeom>
          <a:solidFill>
            <a:srgbClr val="B11F4B"/>
          </a:solidFill>
          <a:ln w="12700">
            <a:solidFill>
              <a:srgbClr val="B11F4B"/>
            </a:solidFill>
            <a:prstDash val="solid"/>
          </a:ln>
        </p:spPr>
      </p:sp>
      <p:sp>
        <p:nvSpPr>
          <p:cNvPr id="8" name="Text 6"/>
          <p:cNvSpPr/>
          <p:nvPr/>
        </p:nvSpPr>
        <p:spPr>
          <a:xfrm>
            <a:off x="960120" y="4480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9" name="Text 7"/>
          <p:cNvSpPr/>
          <p:nvPr/>
        </p:nvSpPr>
        <p:spPr>
          <a:xfrm>
            <a:off x="1691640" y="4434840"/>
            <a:ext cx="2286000" cy="411480"/>
          </a:xfrm>
          <a:prstGeom prst="rect">
            <a:avLst/>
          </a:prstGeom>
          <a:noFill/>
          <a:ln/>
        </p:spPr>
        <p:txBody>
          <a:bodyPr wrap="square" lIns="0" tIns="0" rIns="0" bIns="0" rtlCol="0" anchor="ctr"/>
          <a:lstStyle/>
          <a:p>
            <a:pPr indent="0" marL="0">
              <a:buNone/>
            </a:pPr>
            <a:r>
              <a:rPr lang="en-US" sz="1700" b="1" dirty="0">
                <a:solidFill>
                  <a:srgbClr val="242424"/>
                </a:solidFill>
                <a:latin typeface="Segoe UI" pitchFamily="34" charset="0"/>
                <a:ea typeface="Segoe UI" pitchFamily="34" charset="-122"/>
                <a:cs typeface="Segoe UI" pitchFamily="34" charset="-120"/>
              </a:rPr>
              <a:t>Entra integration</a:t>
            </a:r>
            <a:endParaRPr lang="en-US" sz="1700" dirty="0"/>
          </a:p>
        </p:txBody>
      </p:sp>
      <p:sp>
        <p:nvSpPr>
          <p:cNvPr id="10" name="Text 8"/>
          <p:cNvSpPr/>
          <p:nvPr/>
        </p:nvSpPr>
        <p:spPr>
          <a:xfrm>
            <a:off x="1691640" y="4846320"/>
            <a:ext cx="2286000" cy="365760"/>
          </a:xfrm>
          <a:prstGeom prst="rect">
            <a:avLst/>
          </a:prstGeom>
          <a:noFill/>
          <a:ln/>
        </p:spPr>
        <p:txBody>
          <a:bodyPr wrap="square" lIns="0" tIns="0" rIns="0" bIns="0" rtlCol="0" anchor="ctr"/>
          <a:lstStyle/>
          <a:p>
            <a:pPr indent="0" marL="0">
              <a:buNone/>
            </a:pPr>
            <a:r>
              <a:rPr lang="en-US" sz="1300" dirty="0">
                <a:solidFill>
                  <a:srgbClr val="5C5C5C"/>
                </a:solidFill>
                <a:latin typeface="Segoe UI" pitchFamily="34" charset="0"/>
                <a:ea typeface="Segoe UI" pitchFamily="34" charset="-122"/>
                <a:cs typeface="Segoe UI" pitchFamily="34" charset="-120"/>
              </a:rPr>
              <a:t>A365 CLI setup + MSAL OBO</a:t>
            </a:r>
            <a:endParaRPr lang="en-US" sz="1300" dirty="0"/>
          </a:p>
        </p:txBody>
      </p:sp>
      <p:sp>
        <p:nvSpPr>
          <p:cNvPr id="11" name="Shape 9"/>
          <p:cNvSpPr/>
          <p:nvPr/>
        </p:nvSpPr>
        <p:spPr>
          <a:xfrm>
            <a:off x="4434840" y="4160520"/>
            <a:ext cx="3383280" cy="1325880"/>
          </a:xfrm>
          <a:prstGeom prst="rect">
            <a:avLst/>
          </a:prstGeom>
          <a:solidFill>
            <a:srgbClr val="FCFBF8"/>
          </a:solidFill>
          <a:ln w="12700">
            <a:solidFill>
              <a:srgbClr val="FCFBF8"/>
            </a:solidFill>
            <a:prstDash val="solid"/>
          </a:ln>
        </p:spPr>
      </p:sp>
      <p:sp>
        <p:nvSpPr>
          <p:cNvPr id="12" name="Shape 10"/>
          <p:cNvSpPr/>
          <p:nvPr/>
        </p:nvSpPr>
        <p:spPr>
          <a:xfrm>
            <a:off x="4434840" y="4160520"/>
            <a:ext cx="3383280" cy="73152"/>
          </a:xfrm>
          <a:prstGeom prst="rect">
            <a:avLst/>
          </a:prstGeom>
          <a:solidFill>
            <a:srgbClr val="666666"/>
          </a:solidFill>
          <a:ln w="12700">
            <a:solidFill>
              <a:srgbClr val="666666"/>
            </a:solidFill>
            <a:prstDash val="solid"/>
          </a:ln>
        </p:spPr>
      </p:sp>
      <p:sp>
        <p:nvSpPr>
          <p:cNvPr id="13" name="Shape 11"/>
          <p:cNvSpPr/>
          <p:nvPr/>
        </p:nvSpPr>
        <p:spPr>
          <a:xfrm>
            <a:off x="4663440" y="4480560"/>
            <a:ext cx="566928" cy="566928"/>
          </a:xfrm>
          <a:prstGeom prst="ellipse">
            <a:avLst/>
          </a:prstGeom>
          <a:solidFill>
            <a:srgbClr val="666666"/>
          </a:solidFill>
          <a:ln w="12700">
            <a:solidFill>
              <a:srgbClr val="666666"/>
            </a:solidFill>
            <a:prstDash val="solid"/>
          </a:ln>
        </p:spPr>
      </p:sp>
      <p:sp>
        <p:nvSpPr>
          <p:cNvPr id="14" name="Text 12"/>
          <p:cNvSpPr/>
          <p:nvPr/>
        </p:nvSpPr>
        <p:spPr>
          <a:xfrm>
            <a:off x="4663440" y="4480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5" name="Text 13"/>
          <p:cNvSpPr/>
          <p:nvPr/>
        </p:nvSpPr>
        <p:spPr>
          <a:xfrm>
            <a:off x="5394960" y="4434840"/>
            <a:ext cx="2286000" cy="411480"/>
          </a:xfrm>
          <a:prstGeom prst="rect">
            <a:avLst/>
          </a:prstGeom>
          <a:noFill/>
          <a:ln/>
        </p:spPr>
        <p:txBody>
          <a:bodyPr wrap="square" lIns="0" tIns="0" rIns="0" bIns="0" rtlCol="0" anchor="ctr"/>
          <a:lstStyle/>
          <a:p>
            <a:pPr indent="0" marL="0">
              <a:buNone/>
            </a:pPr>
            <a:r>
              <a:rPr lang="en-US" sz="1700" b="1" dirty="0">
                <a:solidFill>
                  <a:srgbClr val="242424"/>
                </a:solidFill>
                <a:latin typeface="Segoe UI" pitchFamily="34" charset="0"/>
                <a:ea typeface="Segoe UI" pitchFamily="34" charset="-122"/>
                <a:cs typeface="Segoe UI" pitchFamily="34" charset="-120"/>
              </a:rPr>
              <a:t>Observability SDK</a:t>
            </a:r>
            <a:endParaRPr lang="en-US" sz="1700" dirty="0"/>
          </a:p>
        </p:txBody>
      </p:sp>
      <p:sp>
        <p:nvSpPr>
          <p:cNvPr id="16" name="Text 14"/>
          <p:cNvSpPr/>
          <p:nvPr/>
        </p:nvSpPr>
        <p:spPr>
          <a:xfrm>
            <a:off x="5394960" y="4846320"/>
            <a:ext cx="2286000" cy="365760"/>
          </a:xfrm>
          <a:prstGeom prst="rect">
            <a:avLst/>
          </a:prstGeom>
          <a:noFill/>
          <a:ln/>
        </p:spPr>
        <p:txBody>
          <a:bodyPr wrap="square" lIns="0" tIns="0" rIns="0" bIns="0" rtlCol="0" anchor="ctr"/>
          <a:lstStyle/>
          <a:p>
            <a:pPr indent="0" marL="0">
              <a:buNone/>
            </a:pPr>
            <a:r>
              <a:rPr lang="en-US" sz="1300" dirty="0">
                <a:solidFill>
                  <a:srgbClr val="5C5C5C"/>
                </a:solidFill>
                <a:latin typeface="Segoe UI" pitchFamily="34" charset="0"/>
                <a:ea typeface="Segoe UI" pitchFamily="34" charset="-122"/>
                <a:cs typeface="Segoe UI" pitchFamily="34" charset="-120"/>
              </a:rPr>
              <a:t>OpenTelemetry to Agent 365</a:t>
            </a:r>
            <a:endParaRPr lang="en-US" sz="1300" dirty="0"/>
          </a:p>
        </p:txBody>
      </p:sp>
      <p:sp>
        <p:nvSpPr>
          <p:cNvPr id="17" name="Shape 15"/>
          <p:cNvSpPr/>
          <p:nvPr/>
        </p:nvSpPr>
        <p:spPr>
          <a:xfrm>
            <a:off x="8138160" y="4160520"/>
            <a:ext cx="3383280" cy="1325880"/>
          </a:xfrm>
          <a:prstGeom prst="rect">
            <a:avLst/>
          </a:prstGeom>
          <a:solidFill>
            <a:srgbClr val="FCFBF8"/>
          </a:solidFill>
          <a:ln w="12700">
            <a:solidFill>
              <a:srgbClr val="FCFBF8"/>
            </a:solidFill>
            <a:prstDash val="solid"/>
          </a:ln>
        </p:spPr>
      </p:sp>
      <p:sp>
        <p:nvSpPr>
          <p:cNvPr id="18" name="Shape 16"/>
          <p:cNvSpPr/>
          <p:nvPr/>
        </p:nvSpPr>
        <p:spPr>
          <a:xfrm>
            <a:off x="8138160" y="4160520"/>
            <a:ext cx="3383280" cy="73152"/>
          </a:xfrm>
          <a:prstGeom prst="rect">
            <a:avLst/>
          </a:prstGeom>
          <a:solidFill>
            <a:srgbClr val="0078D4"/>
          </a:solidFill>
          <a:ln w="12700">
            <a:solidFill>
              <a:srgbClr val="0078D4"/>
            </a:solidFill>
            <a:prstDash val="solid"/>
          </a:ln>
        </p:spPr>
      </p:sp>
      <p:sp>
        <p:nvSpPr>
          <p:cNvPr id="19" name="Shape 17"/>
          <p:cNvSpPr/>
          <p:nvPr/>
        </p:nvSpPr>
        <p:spPr>
          <a:xfrm>
            <a:off x="8366760" y="4480560"/>
            <a:ext cx="566928" cy="566928"/>
          </a:xfrm>
          <a:prstGeom prst="ellipse">
            <a:avLst/>
          </a:prstGeom>
          <a:solidFill>
            <a:srgbClr val="0078D4"/>
          </a:solidFill>
          <a:ln w="12700">
            <a:solidFill>
              <a:srgbClr val="0078D4"/>
            </a:solidFill>
            <a:prstDash val="solid"/>
          </a:ln>
        </p:spPr>
      </p:sp>
      <p:sp>
        <p:nvSpPr>
          <p:cNvPr id="20" name="Text 18"/>
          <p:cNvSpPr/>
          <p:nvPr/>
        </p:nvSpPr>
        <p:spPr>
          <a:xfrm>
            <a:off x="8366760" y="44805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21" name="Text 19"/>
          <p:cNvSpPr/>
          <p:nvPr/>
        </p:nvSpPr>
        <p:spPr>
          <a:xfrm>
            <a:off x="9098280" y="4434840"/>
            <a:ext cx="2286000" cy="411480"/>
          </a:xfrm>
          <a:prstGeom prst="rect">
            <a:avLst/>
          </a:prstGeom>
          <a:noFill/>
          <a:ln/>
        </p:spPr>
        <p:txBody>
          <a:bodyPr wrap="square" lIns="0" tIns="0" rIns="0" bIns="0" rtlCol="0" anchor="ctr"/>
          <a:lstStyle/>
          <a:p>
            <a:pPr indent="0" marL="0">
              <a:buNone/>
            </a:pPr>
            <a:r>
              <a:rPr lang="en-US" sz="1700" b="1" dirty="0">
                <a:solidFill>
                  <a:srgbClr val="242424"/>
                </a:solidFill>
                <a:latin typeface="Segoe UI" pitchFamily="34" charset="0"/>
                <a:ea typeface="Segoe UI" pitchFamily="34" charset="-122"/>
                <a:cs typeface="Segoe UI" pitchFamily="34" charset="-120"/>
              </a:rPr>
              <a:t>Purview SDK</a:t>
            </a:r>
            <a:endParaRPr lang="en-US" sz="1700" dirty="0"/>
          </a:p>
        </p:txBody>
      </p:sp>
      <p:sp>
        <p:nvSpPr>
          <p:cNvPr id="22" name="Text 20"/>
          <p:cNvSpPr/>
          <p:nvPr/>
        </p:nvSpPr>
        <p:spPr>
          <a:xfrm>
            <a:off x="9098280" y="4846320"/>
            <a:ext cx="2286000" cy="365760"/>
          </a:xfrm>
          <a:prstGeom prst="rect">
            <a:avLst/>
          </a:prstGeom>
          <a:noFill/>
          <a:ln/>
        </p:spPr>
        <p:txBody>
          <a:bodyPr wrap="square" lIns="0" tIns="0" rIns="0" bIns="0" rtlCol="0" anchor="ctr"/>
          <a:lstStyle/>
          <a:p>
            <a:pPr indent="0" marL="0">
              <a:buNone/>
            </a:pPr>
            <a:r>
              <a:rPr lang="en-US" sz="1300" dirty="0">
                <a:solidFill>
                  <a:srgbClr val="5C5C5C"/>
                </a:solidFill>
                <a:latin typeface="Segoe UI" pitchFamily="34" charset="0"/>
                <a:ea typeface="Segoe UI" pitchFamily="34" charset="-122"/>
                <a:cs typeface="Segoe UI" pitchFamily="34" charset="-120"/>
              </a:rPr>
              <a:t>processContent DLP verdicts</a:t>
            </a:r>
            <a:endParaRPr lang="en-US" sz="1300" dirty="0"/>
          </a:p>
        </p:txBody>
      </p:sp>
      <p:sp>
        <p:nvSpPr>
          <p:cNvPr id="23" name="Text 21"/>
          <p:cNvSpPr/>
          <p:nvPr/>
        </p:nvSpPr>
        <p:spPr>
          <a:xfrm>
            <a:off x="731520" y="6172200"/>
            <a:ext cx="10058400" cy="320040"/>
          </a:xfrm>
          <a:prstGeom prst="rect">
            <a:avLst/>
          </a:prstGeom>
          <a:noFill/>
          <a:ln/>
        </p:spPr>
        <p:txBody>
          <a:bodyPr wrap="square" lIns="0" tIns="0" rIns="0" bIns="0" rtlCol="0" anchor="ctr"/>
          <a:lstStyle/>
          <a:p>
            <a:pPr indent="0" marL="0">
              <a:buNone/>
            </a:pPr>
            <a:r>
              <a:rPr lang="en-US" sz="1200" dirty="0">
                <a:solidFill>
                  <a:srgbClr val="6F6F6F"/>
                </a:solidFill>
                <a:latin typeface="Segoe UI" pitchFamily="34" charset="0"/>
                <a:ea typeface="Segoe UI" pitchFamily="34" charset="-122"/>
                <a:cs typeface="Segoe UI" pitchFamily="34" charset="-120"/>
              </a:rPr>
              <a:t>Agents: DemoAgent1 (:8000) · DemoAgent2 (:8001) · DemoAgent3 (proposed :8002)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11</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800" b="1" dirty="0">
                <a:solidFill>
                  <a:srgbClr val="242424"/>
                </a:solidFill>
                <a:latin typeface="Segoe UI" pitchFamily="34" charset="0"/>
                <a:ea typeface="Segoe UI" pitchFamily="34" charset="-122"/>
                <a:cs typeface="Segoe UI" pitchFamily="34" charset="-120"/>
              </a:rPr>
              <a:t>Three agents: local, observable, governed</a:t>
            </a:r>
            <a:endParaRPr lang="en-US" sz="28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presenter-script.md · intended comparison setup</a:t>
            </a:r>
            <a:endParaRPr lang="en-US" sz="1000" dirty="0"/>
          </a:p>
        </p:txBody>
      </p:sp>
      <p:pic>
        <p:nvPicPr>
          <p:cNvPr id="6" name="Image 0" descr="Three agents: local, observable, governed">    </p:cNvPr>
          <p:cNvPicPr>
            <a:picLocks noChangeAspect="1"/>
          </p:cNvPicPr>
          <p:nvPr/>
        </p:nvPicPr>
        <p:blipFill>
          <a:blip r:embed="rId1"/>
          <a:stretch>
            <a:fillRect/>
          </a:stretch>
        </p:blipFill>
        <p:spPr>
          <a:xfrm>
            <a:off x="804628" y="1051560"/>
            <a:ext cx="10582439" cy="525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400" b="1" dirty="0">
                <a:solidFill>
                  <a:srgbClr val="242424"/>
                </a:solidFill>
                <a:latin typeface="Segoe UI" pitchFamily="34" charset="0"/>
                <a:ea typeface="Segoe UI" pitchFamily="34" charset="-122"/>
                <a:cs typeface="Segoe UI" pitchFamily="34" charset="-120"/>
              </a:rPr>
              <a:t>High‑level architecture: Agent 365 integration points</a:t>
            </a:r>
            <a:endParaRPr lang="en-US" sz="24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README.md, 02-register.md</a:t>
            </a:r>
            <a:endParaRPr lang="en-US" sz="1000" dirty="0"/>
          </a:p>
        </p:txBody>
      </p:sp>
      <p:pic>
        <p:nvPicPr>
          <p:cNvPr id="6" name="Image 0" descr="High‑level architecture: Agent 365 integration points">    </p:cNvPr>
          <p:cNvPicPr>
            <a:picLocks noChangeAspect="1"/>
          </p:cNvPicPr>
          <p:nvPr/>
        </p:nvPicPr>
        <p:blipFill>
          <a:blip r:embed="rId1"/>
          <a:stretch>
            <a:fillRect/>
          </a:stretch>
        </p:blipFill>
        <p:spPr>
          <a:xfrm>
            <a:off x="1925903" y="1051560"/>
            <a:ext cx="8339890" cy="3410712"/>
          </a:xfrm>
          <a:prstGeom prst="rect">
            <a:avLst/>
          </a:prstGeom>
        </p:spPr>
      </p:pic>
      <p:sp>
        <p:nvSpPr>
          <p:cNvPr id="7" name="Text 4"/>
          <p:cNvSpPr/>
          <p:nvPr/>
        </p:nvSpPr>
        <p:spPr>
          <a:xfrm>
            <a:off x="457200" y="4507992"/>
            <a:ext cx="11277295" cy="274320"/>
          </a:xfrm>
          <a:prstGeom prst="rect">
            <a:avLst/>
          </a:prstGeom>
          <a:noFill/>
          <a:ln/>
        </p:spPr>
        <p:txBody>
          <a:bodyPr wrap="square" lIns="0" tIns="0" rIns="0" bIns="0"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  </a:t>
            </a:r>
            <a:pPr algn="ctr" indent="0" marL="0">
              <a:buNone/>
            </a:pPr>
            <a:r>
              <a:rPr lang="en-US" sz="1200" dirty="0">
                <a:solidFill>
                  <a:srgbClr val="5C5C5C"/>
                </a:solidFill>
                <a:latin typeface="Segoe UI" pitchFamily="34" charset="0"/>
                <a:ea typeface="Segoe UI" pitchFamily="34" charset="-122"/>
                <a:cs typeface="Segoe UI" pitchFamily="34" charset="-120"/>
              </a:rPr>
              <a:t>Purview SDK: prompt/response text, policy verdicts        </a:t>
            </a:r>
            <a:pPr algn="ctr" indent="0" marL="0">
              <a:buNone/>
            </a:pPr>
            <a:r>
              <a:rPr lang="en-US" sz="1200" b="1" dirty="0">
                <a:solidFill>
                  <a:srgbClr val="666666"/>
                </a:solidFill>
                <a:latin typeface="Segoe UI" pitchFamily="34" charset="0"/>
                <a:ea typeface="Segoe UI" pitchFamily="34" charset="-122"/>
                <a:cs typeface="Segoe UI" pitchFamily="34" charset="-120"/>
              </a:rPr>
              <a:t>□  </a:t>
            </a:r>
            <a:pPr algn="ctr" indent="0" marL="0">
              <a:buNone/>
            </a:pPr>
            <a:r>
              <a:rPr lang="en-US" sz="1200" dirty="0">
                <a:solidFill>
                  <a:srgbClr val="5C5C5C"/>
                </a:solidFill>
                <a:latin typeface="Segoe UI" pitchFamily="34" charset="0"/>
                <a:ea typeface="Segoe UI" pitchFamily="34" charset="-122"/>
                <a:cs typeface="Segoe UI" pitchFamily="34" charset="-120"/>
              </a:rPr>
              <a:t>OpenTelemetry: activity telemetry, no policy enforcement</a:t>
            </a:r>
            <a:endParaRPr lang="en-US" sz="1200" dirty="0"/>
          </a:p>
        </p:txBody>
      </p:sp>
      <p:sp>
        <p:nvSpPr>
          <p:cNvPr id="8" name="Shape 5"/>
          <p:cNvSpPr/>
          <p:nvPr/>
        </p:nvSpPr>
        <p:spPr>
          <a:xfrm>
            <a:off x="457200" y="4937760"/>
            <a:ext cx="11277295" cy="1371600"/>
          </a:xfrm>
          <a:prstGeom prst="rect">
            <a:avLst/>
          </a:prstGeom>
          <a:solidFill>
            <a:srgbClr val="FCFBF8"/>
          </a:solidFill>
          <a:ln w="12700">
            <a:solidFill>
              <a:srgbClr val="FCFBF8"/>
            </a:solidFill>
            <a:prstDash val="solid"/>
          </a:ln>
        </p:spPr>
      </p:sp>
      <p:sp>
        <p:nvSpPr>
          <p:cNvPr id="9" name="Shape 6"/>
          <p:cNvSpPr/>
          <p:nvPr/>
        </p:nvSpPr>
        <p:spPr>
          <a:xfrm>
            <a:off x="457200" y="4937760"/>
            <a:ext cx="64008" cy="1371600"/>
          </a:xfrm>
          <a:prstGeom prst="rect">
            <a:avLst/>
          </a:prstGeom>
          <a:solidFill>
            <a:srgbClr val="B11F4B"/>
          </a:solidFill>
          <a:ln w="12700">
            <a:solidFill>
              <a:srgbClr val="B11F4B"/>
            </a:solidFill>
            <a:prstDash val="solid"/>
          </a:ln>
        </p:spPr>
      </p:sp>
      <p:sp>
        <p:nvSpPr>
          <p:cNvPr id="10" name="Text 7"/>
          <p:cNvSpPr/>
          <p:nvPr/>
        </p:nvSpPr>
        <p:spPr>
          <a:xfrm>
            <a:off x="685800" y="5074920"/>
            <a:ext cx="10865815" cy="1097280"/>
          </a:xfrm>
          <a:prstGeom prst="rect">
            <a:avLst/>
          </a:prstGeom>
          <a:noFill/>
          <a:ln/>
        </p:spPr>
        <p:txBody>
          <a:bodyPr wrap="square" lIns="0" tIns="0" rIns="0" bIns="0" rtlCol="0" anchor="t"/>
          <a:lstStyle/>
          <a:p>
            <a:pPr indent="0" marL="0">
              <a:spcAft>
                <a:spcPts val="600"/>
              </a:spcAft>
              <a:buNone/>
            </a:pPr>
            <a:r>
              <a:rPr lang="en-US" sz="1300" b="1" dirty="0">
                <a:solidFill>
                  <a:srgbClr val="B11F4B"/>
                </a:solidFill>
                <a:latin typeface="Segoe UI" pitchFamily="34" charset="0"/>
                <a:ea typeface="Segoe UI" pitchFamily="34" charset="-122"/>
                <a:cs typeface="Segoe UI" pitchFamily="34" charset="-120"/>
              </a:rPr>
              <a:t>Talk track</a:t>
            </a:r>
            <a:endParaRPr lang="en-US" sz="1300" dirty="0"/>
          </a:p>
          <a:p>
            <a:pPr indent="0" marL="0">
              <a:spcAft>
                <a:spcPts val="600"/>
              </a:spcAft>
              <a:buNone/>
            </a:pPr>
            <a:r>
              <a:rPr lang="en-US" sz="1400" dirty="0">
                <a:solidFill>
                  <a:srgbClr val="242424"/>
                </a:solidFill>
                <a:latin typeface="Segoe UI" pitchFamily="34" charset="0"/>
                <a:ea typeface="Segoe UI" pitchFamily="34" charset="-122"/>
                <a:cs typeface="Segoe UI" pitchFamily="34" charset="-120"/>
              </a:rPr>
              <a:t>Four integration points: ① an identity in Entra, ② an entry in the registry, ③ telemetry through the Observability SDK, and ④ data security through the Purview SDK. The agent keeps running where it is. Only identity, telemetry and the Purview API calls go to Microsoft.</a:t>
            </a:r>
            <a:endParaRPr lang="en-US" sz="1300" dirty="0"/>
          </a:p>
          <a:p>
            <a:pPr indent="0" marL="0">
              <a:spcAft>
                <a:spcPts val="600"/>
              </a:spcAft>
              <a:buNone/>
            </a:pPr>
            <a:r>
              <a:rPr lang="en-US" sz="1400" dirty="0">
                <a:solidFill>
                  <a:srgbClr val="242424"/>
                </a:solidFill>
                <a:latin typeface="Segoe UI" pitchFamily="34" charset="0"/>
                <a:ea typeface="Segoe UI" pitchFamily="34" charset="-122"/>
                <a:cs typeface="Segoe UI" pitchFamily="34" charset="-120"/>
              </a:rPr>
              <a:t>Build order (left column, top to bottom): 1 Entra integration comes first (the A365 CLI creates the blueprint, agent identity and registry entry, and the app uses MSAL OBO at runtime), then 2 the Observability SDK, and 3 the Purview SDK last.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800" b="1" dirty="0">
                <a:solidFill>
                  <a:srgbClr val="242424"/>
                </a:solidFill>
                <a:latin typeface="Segoe UI" pitchFamily="34" charset="0"/>
                <a:ea typeface="Segoe UI" pitchFamily="34" charset="-122"/>
                <a:cs typeface="Segoe UI" pitchFamily="34" charset="-120"/>
              </a:rPr>
              <a:t>Solution architecture</a:t>
            </a:r>
            <a:endParaRPr lang="en-US" sz="28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README.md · code: agent/app.py, agent/guard.py, agent/purview.py, agent/telemetry.py</a:t>
            </a:r>
            <a:endParaRPr lang="en-US" sz="1000" dirty="0"/>
          </a:p>
        </p:txBody>
      </p:sp>
      <p:pic>
        <p:nvPicPr>
          <p:cNvPr id="6" name="Image 0" descr="Solution architecture">    </p:cNvPr>
          <p:cNvPicPr>
            <a:picLocks noChangeAspect="1"/>
          </p:cNvPicPr>
          <p:nvPr/>
        </p:nvPicPr>
        <p:blipFill>
          <a:blip r:embed="rId1"/>
          <a:stretch>
            <a:fillRect/>
          </a:stretch>
        </p:blipFill>
        <p:spPr>
          <a:xfrm>
            <a:off x="1132370" y="1051560"/>
            <a:ext cx="6040755" cy="5257800"/>
          </a:xfrm>
          <a:prstGeom prst="rect">
            <a:avLst/>
          </a:prstGeom>
        </p:spPr>
      </p:pic>
      <p:sp>
        <p:nvSpPr>
          <p:cNvPr id="7" name="Shape 4"/>
          <p:cNvSpPr/>
          <p:nvPr/>
        </p:nvSpPr>
        <p:spPr>
          <a:xfrm>
            <a:off x="8168335" y="1051560"/>
            <a:ext cx="3566160" cy="5257800"/>
          </a:xfrm>
          <a:prstGeom prst="rect">
            <a:avLst/>
          </a:prstGeom>
          <a:solidFill>
            <a:srgbClr val="FCFBF8"/>
          </a:solidFill>
          <a:ln w="12700">
            <a:solidFill>
              <a:srgbClr val="FCFBF8"/>
            </a:solidFill>
            <a:prstDash val="solid"/>
          </a:ln>
        </p:spPr>
      </p:sp>
      <p:sp>
        <p:nvSpPr>
          <p:cNvPr id="8" name="Shape 5"/>
          <p:cNvSpPr/>
          <p:nvPr/>
        </p:nvSpPr>
        <p:spPr>
          <a:xfrm>
            <a:off x="8168335" y="1051560"/>
            <a:ext cx="64008" cy="5257800"/>
          </a:xfrm>
          <a:prstGeom prst="rect">
            <a:avLst/>
          </a:prstGeom>
          <a:solidFill>
            <a:srgbClr val="B11F4B"/>
          </a:solidFill>
          <a:ln w="12700">
            <a:solidFill>
              <a:srgbClr val="B11F4B"/>
            </a:solidFill>
            <a:prstDash val="solid"/>
          </a:ln>
        </p:spPr>
      </p:sp>
      <p:sp>
        <p:nvSpPr>
          <p:cNvPr id="9" name="Text 6"/>
          <p:cNvSpPr/>
          <p:nvPr/>
        </p:nvSpPr>
        <p:spPr>
          <a:xfrm>
            <a:off x="8396935" y="1188720"/>
            <a:ext cx="3154680" cy="4169664"/>
          </a:xfrm>
          <a:prstGeom prst="rect">
            <a:avLst/>
          </a:prstGeom>
          <a:noFill/>
          <a:ln/>
        </p:spPr>
        <p:txBody>
          <a:bodyPr wrap="square" lIns="0" tIns="0" rIns="0" bIns="0" rtlCol="0" anchor="t"/>
          <a:lstStyle/>
          <a:p>
            <a:pPr indent="0" marL="0">
              <a:spcAft>
                <a:spcPts val="600"/>
              </a:spcAft>
              <a:buNone/>
            </a:pPr>
            <a:r>
              <a:rPr lang="en-US" sz="1300" b="1" dirty="0">
                <a:solidFill>
                  <a:srgbClr val="B11F4B"/>
                </a:solidFill>
                <a:latin typeface="Segoe UI" pitchFamily="34" charset="0"/>
                <a:ea typeface="Segoe UI" pitchFamily="34" charset="-122"/>
                <a:cs typeface="Segoe UI" pitchFamily="34" charset="-120"/>
              </a:rPr>
              <a:t>Talk track</a:t>
            </a:r>
            <a:endParaRPr lang="en-US" sz="1300" dirty="0"/>
          </a:p>
          <a:p>
            <a:pPr indent="0" marL="0">
              <a:spcAft>
                <a:spcPts val="600"/>
              </a:spcAft>
              <a:buNone/>
            </a:pPr>
            <a:r>
              <a:rPr lang="en-US" sz="1400" dirty="0">
                <a:solidFill>
                  <a:srgbClr val="242424"/>
                </a:solidFill>
                <a:latin typeface="Segoe UI" pitchFamily="34" charset="0"/>
                <a:ea typeface="Segoe UI" pitchFamily="34" charset="-122"/>
                <a:cs typeface="Segoe UI" pitchFamily="34" charset="-120"/>
              </a:rPr>
              <a:t>the prompt and the response go from LangGraph to Purview through the Purview SDK (processContent), before the LLM runs and before the answer is shown. That's where DLP decides allow or block. OpenTelemetry carries activity telemetry to Defender, Purview Audit and the admin center, but it does not evaluate or enforce prompt/response policies.</a:t>
            </a:r>
            <a:endParaRPr lang="en-US" sz="1300" dirty="0"/>
          </a:p>
        </p:txBody>
      </p:sp>
      <p:sp>
        <p:nvSpPr>
          <p:cNvPr id="10" name="Text 7"/>
          <p:cNvSpPr/>
          <p:nvPr/>
        </p:nvSpPr>
        <p:spPr>
          <a:xfrm>
            <a:off x="8396935" y="5404104"/>
            <a:ext cx="3154680" cy="813816"/>
          </a:xfrm>
          <a:prstGeom prst="rect">
            <a:avLst/>
          </a:prstGeom>
          <a:noFill/>
          <a:ln/>
        </p:spPr>
        <p:txBody>
          <a:bodyPr wrap="square" lIns="0" tIns="0" rIns="0" bIns="0" rtlCol="0" anchor="b"/>
          <a:lstStyle/>
          <a:p>
            <a:pPr indent="0" marL="0">
              <a:buNone/>
            </a:pPr>
            <a:r>
              <a:rPr lang="en-US" sz="1100" b="1" dirty="0">
                <a:solidFill>
                  <a:srgbClr val="0078D4"/>
                </a:solidFill>
                <a:latin typeface="Segoe UI" pitchFamily="34" charset="0"/>
                <a:ea typeface="Segoe UI" pitchFamily="34" charset="-122"/>
                <a:cs typeface="Segoe UI" pitchFamily="34" charset="-120"/>
              </a:rPr>
              <a:t>■  </a:t>
            </a:r>
            <a:pPr indent="0" marL="0">
              <a:buNone/>
            </a:pPr>
            <a:r>
              <a:rPr lang="en-US" sz="1100" dirty="0">
                <a:solidFill>
                  <a:srgbClr val="5C5C5C"/>
                </a:solidFill>
                <a:latin typeface="Segoe UI" pitchFamily="34" charset="0"/>
                <a:ea typeface="Segoe UI" pitchFamily="34" charset="-122"/>
                <a:cs typeface="Segoe UI" pitchFamily="34" charset="-120"/>
              </a:rPr>
              <a:t>Purview SDK path: prompt and response go to Purview for policy</a:t>
            </a:r>
            <a:endParaRPr lang="en-US" sz="1100" dirty="0"/>
          </a:p>
          <a:p>
            <a:pPr indent="0" marL="0">
              <a:buNone/>
            </a:pPr>
            <a:r>
              <a:rPr lang="en-US" sz="1100" b="1" dirty="0">
                <a:solidFill>
                  <a:srgbClr val="666666"/>
                </a:solidFill>
                <a:latin typeface="Segoe UI" pitchFamily="34" charset="0"/>
                <a:ea typeface="Segoe UI" pitchFamily="34" charset="-122"/>
                <a:cs typeface="Segoe UI" pitchFamily="34" charset="-120"/>
              </a:rPr>
              <a:t>□  </a:t>
            </a:r>
            <a:pPr indent="0" marL="0">
              <a:buNone/>
            </a:pPr>
            <a:r>
              <a:rPr lang="en-US" sz="1100" dirty="0">
                <a:solidFill>
                  <a:srgbClr val="5C5C5C"/>
                </a:solidFill>
                <a:latin typeface="Segoe UI" pitchFamily="34" charset="0"/>
                <a:ea typeface="Segoe UI" pitchFamily="34" charset="-122"/>
                <a:cs typeface="Segoe UI" pitchFamily="34" charset="-120"/>
              </a:rPr>
              <a:t>OpenTelemetry path: telemetry only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800" b="1" dirty="0">
                <a:solidFill>
                  <a:srgbClr val="242424"/>
                </a:solidFill>
                <a:latin typeface="Segoe UI" pitchFamily="34" charset="0"/>
                <a:ea typeface="Segoe UI" pitchFamily="34" charset="-122"/>
                <a:cs typeface="Segoe UI" pitchFamily="34" charset="-120"/>
              </a:rPr>
              <a:t>Demo storyline</a:t>
            </a:r>
            <a:endParaRPr lang="en-US" sz="28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presenter-script.md (≈35 min)</a:t>
            </a:r>
            <a:endParaRPr lang="en-US" sz="1000" dirty="0"/>
          </a:p>
        </p:txBody>
      </p:sp>
      <p:pic>
        <p:nvPicPr>
          <p:cNvPr id="6" name="Image 0" descr="Demo storyline">    </p:cNvPr>
          <p:cNvPicPr>
            <a:picLocks noChangeAspect="1"/>
          </p:cNvPicPr>
          <p:nvPr/>
        </p:nvPicPr>
        <p:blipFill>
          <a:blip r:embed="rId1"/>
          <a:stretch>
            <a:fillRect/>
          </a:stretch>
        </p:blipFill>
        <p:spPr>
          <a:xfrm>
            <a:off x="457200" y="2916344"/>
            <a:ext cx="11277295" cy="15282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800" b="1" dirty="0">
                <a:solidFill>
                  <a:srgbClr val="242424"/>
                </a:solidFill>
                <a:latin typeface="Segoe UI" pitchFamily="34" charset="0"/>
                <a:ea typeface="Segoe UI" pitchFamily="34" charset="-122"/>
                <a:cs typeface="Segoe UI" pitchFamily="34" charset="-120"/>
              </a:rPr>
              <a:t>Setup &amp; registration steps</a:t>
            </a:r>
            <a:endParaRPr lang="en-US" sz="28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01-run-agent.md, 02-register.md, 05-phase2-dlp-ca.md</a:t>
            </a:r>
            <a:endParaRPr lang="en-US" sz="1000" dirty="0"/>
          </a:p>
        </p:txBody>
      </p:sp>
      <p:pic>
        <p:nvPicPr>
          <p:cNvPr id="6" name="Image 0" descr="Setup &amp; registration steps">    </p:cNvPr>
          <p:cNvPicPr>
            <a:picLocks noChangeAspect="1"/>
          </p:cNvPicPr>
          <p:nvPr/>
        </p:nvPicPr>
        <p:blipFill>
          <a:blip r:embed="rId1"/>
          <a:stretch>
            <a:fillRect/>
          </a:stretch>
        </p:blipFill>
        <p:spPr>
          <a:xfrm>
            <a:off x="2584380" y="1051560"/>
            <a:ext cx="7022934" cy="525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800" b="1" dirty="0">
                <a:solidFill>
                  <a:srgbClr val="242424"/>
                </a:solidFill>
                <a:latin typeface="Segoe UI" pitchFamily="34" charset="0"/>
                <a:ea typeface="Segoe UI" pitchFamily="34" charset="-122"/>
                <a:cs typeface="Segoe UI" pitchFamily="34" charset="-120"/>
              </a:rPr>
              <a:t>Entra objects and permissions</a:t>
            </a:r>
            <a:endParaRPr lang="en-US" sz="28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02-register.md</a:t>
            </a:r>
            <a:endParaRPr lang="en-US" sz="1000" dirty="0"/>
          </a:p>
        </p:txBody>
      </p:sp>
      <p:pic>
        <p:nvPicPr>
          <p:cNvPr id="6" name="Image 0" descr="Entra objects and permissions">    </p:cNvPr>
          <p:cNvPicPr>
            <a:picLocks noChangeAspect="1"/>
          </p:cNvPicPr>
          <p:nvPr/>
        </p:nvPicPr>
        <p:blipFill>
          <a:blip r:embed="rId1"/>
          <a:stretch>
            <a:fillRect/>
          </a:stretch>
        </p:blipFill>
        <p:spPr>
          <a:xfrm>
            <a:off x="457200" y="1661192"/>
            <a:ext cx="11277295" cy="2557208"/>
          </a:xfrm>
          <a:prstGeom prst="rect">
            <a:avLst/>
          </a:prstGeom>
        </p:spPr>
      </p:pic>
      <p:sp>
        <p:nvSpPr>
          <p:cNvPr id="7" name="Shape 4"/>
          <p:cNvSpPr/>
          <p:nvPr/>
        </p:nvSpPr>
        <p:spPr>
          <a:xfrm>
            <a:off x="457200" y="4937760"/>
            <a:ext cx="11277295" cy="1371600"/>
          </a:xfrm>
          <a:prstGeom prst="rect">
            <a:avLst/>
          </a:prstGeom>
          <a:solidFill>
            <a:srgbClr val="FCFBF8"/>
          </a:solidFill>
          <a:ln w="12700">
            <a:solidFill>
              <a:srgbClr val="FCFBF8"/>
            </a:solidFill>
            <a:prstDash val="solid"/>
          </a:ln>
        </p:spPr>
      </p:sp>
      <p:sp>
        <p:nvSpPr>
          <p:cNvPr id="8" name="Shape 5"/>
          <p:cNvSpPr/>
          <p:nvPr/>
        </p:nvSpPr>
        <p:spPr>
          <a:xfrm>
            <a:off x="457200" y="4937760"/>
            <a:ext cx="64008" cy="1371600"/>
          </a:xfrm>
          <a:prstGeom prst="rect">
            <a:avLst/>
          </a:prstGeom>
          <a:solidFill>
            <a:srgbClr val="B11F4B"/>
          </a:solidFill>
          <a:ln w="12700">
            <a:solidFill>
              <a:srgbClr val="B11F4B"/>
            </a:solidFill>
            <a:prstDash val="solid"/>
          </a:ln>
        </p:spPr>
      </p:sp>
      <p:sp>
        <p:nvSpPr>
          <p:cNvPr id="9" name="Text 6"/>
          <p:cNvSpPr/>
          <p:nvPr/>
        </p:nvSpPr>
        <p:spPr>
          <a:xfrm>
            <a:off x="685800" y="5074920"/>
            <a:ext cx="10865815" cy="1097280"/>
          </a:xfrm>
          <a:prstGeom prst="rect">
            <a:avLst/>
          </a:prstGeom>
          <a:noFill/>
          <a:ln/>
        </p:spPr>
        <p:txBody>
          <a:bodyPr wrap="square" lIns="0" tIns="0" rIns="0" bIns="0" rtlCol="0" anchor="t"/>
          <a:lstStyle/>
          <a:p>
            <a:pPr indent="0" marL="0">
              <a:spcAft>
                <a:spcPts val="600"/>
              </a:spcAft>
              <a:buNone/>
            </a:pPr>
            <a:r>
              <a:rPr lang="en-US" sz="1300" b="1" dirty="0">
                <a:solidFill>
                  <a:srgbClr val="B11F4B"/>
                </a:solidFill>
                <a:latin typeface="Segoe UI" pitchFamily="34" charset="0"/>
                <a:ea typeface="Segoe UI" pitchFamily="34" charset="-122"/>
                <a:cs typeface="Segoe UI" pitchFamily="34" charset="-120"/>
              </a:rPr>
              <a:t>Talk track</a:t>
            </a:r>
            <a:endParaRPr lang="en-US" sz="1300" dirty="0"/>
          </a:p>
          <a:p>
            <a:pPr indent="0" marL="0">
              <a:spcAft>
                <a:spcPts val="600"/>
              </a:spcAft>
              <a:buNone/>
            </a:pPr>
            <a:r>
              <a:rPr lang="en-US" sz="1400" dirty="0">
                <a:solidFill>
                  <a:srgbClr val="242424"/>
                </a:solidFill>
                <a:latin typeface="Segoe UI" pitchFamily="34" charset="0"/>
                <a:ea typeface="Segoe UI" pitchFamily="34" charset="-122"/>
                <a:cs typeface="Segoe UI" pitchFamily="34" charset="-120"/>
              </a:rPr>
              <a:t>Why three objects? The blueprint is the template and credential holder, and it carries the inheritable permissions (Purview SDK and Observability scopes) that every agent identity gets. The agent identity is the runtime principal. Blueprints can't do interactive sign‑in, so a normal app registration signs the user in.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6</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800" b="1" dirty="0">
                <a:solidFill>
                  <a:srgbClr val="242424"/>
                </a:solidFill>
                <a:latin typeface="Segoe UI" pitchFamily="34" charset="0"/>
                <a:ea typeface="Segoe UI" pitchFamily="34" charset="-122"/>
                <a:cs typeface="Segoe UI" pitchFamily="34" charset="-120"/>
              </a:rPr>
              <a:t>User sign‑in and on‑behalf‑of token chain</a:t>
            </a:r>
            <a:endParaRPr lang="en-US" sz="28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02-register.md · code: agent/auth.py</a:t>
            </a:r>
            <a:endParaRPr lang="en-US" sz="1000" dirty="0"/>
          </a:p>
        </p:txBody>
      </p:sp>
      <p:pic>
        <p:nvPicPr>
          <p:cNvPr id="6" name="Image 0" descr="User sign‑in and on‑behalf‑of token chain">    </p:cNvPr>
          <p:cNvPicPr>
            <a:picLocks noChangeAspect="1"/>
          </p:cNvPicPr>
          <p:nvPr/>
        </p:nvPicPr>
        <p:blipFill>
          <a:blip r:embed="rId1"/>
          <a:stretch>
            <a:fillRect/>
          </a:stretch>
        </p:blipFill>
        <p:spPr>
          <a:xfrm>
            <a:off x="2435459" y="1051560"/>
            <a:ext cx="7320778" cy="525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7</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400" b="1" dirty="0">
                <a:solidFill>
                  <a:srgbClr val="242424"/>
                </a:solidFill>
                <a:latin typeface="Segoe UI" pitchFamily="34" charset="0"/>
                <a:ea typeface="Segoe UI" pitchFamily="34" charset="-122"/>
                <a:cs typeface="Segoe UI" pitchFamily="34" charset="-120"/>
              </a:rPr>
              <a:t>One chat turn: Purview SDK checks and the spans it produces</a:t>
            </a:r>
            <a:endParaRPr lang="en-US" sz="24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01-run-agent.md, 05-phase2-dlp-ca.md · code: agent/app.py, agent/guard.py, agent/purview.py</a:t>
            </a:r>
            <a:endParaRPr lang="en-US" sz="1000" dirty="0"/>
          </a:p>
        </p:txBody>
      </p:sp>
      <p:pic>
        <p:nvPicPr>
          <p:cNvPr id="6" name="Image 0" descr="One chat turn: Purview SDK checks and the spans it produces">    </p:cNvPr>
          <p:cNvPicPr>
            <a:picLocks noChangeAspect="1"/>
          </p:cNvPicPr>
          <p:nvPr/>
        </p:nvPicPr>
        <p:blipFill>
          <a:blip r:embed="rId1"/>
          <a:stretch>
            <a:fillRect/>
          </a:stretch>
        </p:blipFill>
        <p:spPr>
          <a:xfrm>
            <a:off x="998528" y="1051560"/>
            <a:ext cx="6308439" cy="5257800"/>
          </a:xfrm>
          <a:prstGeom prst="rect">
            <a:avLst/>
          </a:prstGeom>
        </p:spPr>
      </p:pic>
      <p:sp>
        <p:nvSpPr>
          <p:cNvPr id="7" name="Shape 4"/>
          <p:cNvSpPr/>
          <p:nvPr/>
        </p:nvSpPr>
        <p:spPr>
          <a:xfrm>
            <a:off x="8168335" y="1051560"/>
            <a:ext cx="3566160" cy="5257800"/>
          </a:xfrm>
          <a:prstGeom prst="rect">
            <a:avLst/>
          </a:prstGeom>
          <a:solidFill>
            <a:srgbClr val="FCFBF8"/>
          </a:solidFill>
          <a:ln w="12700">
            <a:solidFill>
              <a:srgbClr val="FCFBF8"/>
            </a:solidFill>
            <a:prstDash val="solid"/>
          </a:ln>
        </p:spPr>
      </p:sp>
      <p:sp>
        <p:nvSpPr>
          <p:cNvPr id="8" name="Shape 5"/>
          <p:cNvSpPr/>
          <p:nvPr/>
        </p:nvSpPr>
        <p:spPr>
          <a:xfrm>
            <a:off x="8168335" y="1051560"/>
            <a:ext cx="64008" cy="5257800"/>
          </a:xfrm>
          <a:prstGeom prst="rect">
            <a:avLst/>
          </a:prstGeom>
          <a:solidFill>
            <a:srgbClr val="B11F4B"/>
          </a:solidFill>
          <a:ln w="12700">
            <a:solidFill>
              <a:srgbClr val="B11F4B"/>
            </a:solidFill>
            <a:prstDash val="solid"/>
          </a:ln>
        </p:spPr>
      </p:sp>
      <p:sp>
        <p:nvSpPr>
          <p:cNvPr id="9" name="Text 6"/>
          <p:cNvSpPr/>
          <p:nvPr/>
        </p:nvSpPr>
        <p:spPr>
          <a:xfrm>
            <a:off x="8396935" y="1188720"/>
            <a:ext cx="3154680" cy="4983480"/>
          </a:xfrm>
          <a:prstGeom prst="rect">
            <a:avLst/>
          </a:prstGeom>
          <a:noFill/>
          <a:ln/>
        </p:spPr>
        <p:txBody>
          <a:bodyPr wrap="square" lIns="0" tIns="0" rIns="0" bIns="0" rtlCol="0" anchor="t"/>
          <a:lstStyle/>
          <a:p>
            <a:pPr indent="0" marL="0">
              <a:spcAft>
                <a:spcPts val="600"/>
              </a:spcAft>
              <a:buNone/>
            </a:pPr>
            <a:r>
              <a:rPr lang="en-US" sz="1300" b="1" dirty="0">
                <a:solidFill>
                  <a:srgbClr val="B11F4B"/>
                </a:solidFill>
                <a:latin typeface="Segoe UI" pitchFamily="34" charset="0"/>
                <a:ea typeface="Segoe UI" pitchFamily="34" charset="-122"/>
                <a:cs typeface="Segoe UI" pitchFamily="34" charset="-120"/>
              </a:rPr>
              <a:t>Talk track</a:t>
            </a:r>
            <a:endParaRPr lang="en-US" sz="1300" dirty="0"/>
          </a:p>
          <a:p>
            <a:pPr indent="0" marL="0">
              <a:spcAft>
                <a:spcPts val="600"/>
              </a:spcAft>
              <a:buNone/>
            </a:pPr>
            <a:r>
              <a:rPr lang="en-US" sz="1400" dirty="0">
                <a:solidFill>
                  <a:srgbClr val="242424"/>
                </a:solidFill>
                <a:latin typeface="Segoe UI" pitchFamily="34" charset="0"/>
                <a:ea typeface="Segoe UI" pitchFamily="34" charset="-122"/>
                <a:cs typeface="Segoe UI" pitchFamily="34" charset="-120"/>
              </a:rPr>
              <a:t>Two separate channels: the Purview SDK calls carry the prompt and answer text and return a verdict. The OTel spans (invoke_agent, chat, execute_tool) carry gen_ai.agent.id, gen_ai.conversation.id, microsoft.tenant.id, user.id / user.email and client.address for Defender, Purview Audit and the admin center.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8</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800" b="1" dirty="0">
                <a:solidFill>
                  <a:srgbClr val="242424"/>
                </a:solidFill>
                <a:latin typeface="Segoe UI" pitchFamily="34" charset="0"/>
                <a:ea typeface="Segoe UI" pitchFamily="34" charset="-122"/>
                <a:cs typeface="Segoe UI" pitchFamily="34" charset="-120"/>
              </a:rPr>
              <a:t>Where the OpenTelemetry shows up</a:t>
            </a:r>
            <a:endParaRPr lang="en-US" sz="28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03-observability.md</a:t>
            </a:r>
            <a:endParaRPr lang="en-US" sz="1000" dirty="0"/>
          </a:p>
        </p:txBody>
      </p:sp>
      <p:pic>
        <p:nvPicPr>
          <p:cNvPr id="6" name="Image 0" descr="Where the OpenTelemetry shows up">    </p:cNvPr>
          <p:cNvPicPr>
            <a:picLocks noChangeAspect="1"/>
          </p:cNvPicPr>
          <p:nvPr/>
        </p:nvPicPr>
        <p:blipFill>
          <a:blip r:embed="rId1"/>
          <a:stretch>
            <a:fillRect/>
          </a:stretch>
        </p:blipFill>
        <p:spPr>
          <a:xfrm>
            <a:off x="457200" y="1075897"/>
            <a:ext cx="11277295" cy="4047838"/>
          </a:xfrm>
          <a:prstGeom prst="rect">
            <a:avLst/>
          </a:prstGeom>
        </p:spPr>
      </p:pic>
      <p:sp>
        <p:nvSpPr>
          <p:cNvPr id="7" name="Shape 4"/>
          <p:cNvSpPr/>
          <p:nvPr/>
        </p:nvSpPr>
        <p:spPr>
          <a:xfrm>
            <a:off x="457200" y="5257800"/>
            <a:ext cx="11277295" cy="1051560"/>
          </a:xfrm>
          <a:prstGeom prst="rect">
            <a:avLst/>
          </a:prstGeom>
          <a:solidFill>
            <a:srgbClr val="FCFBF8"/>
          </a:solidFill>
          <a:ln w="12700">
            <a:solidFill>
              <a:srgbClr val="FCFBF8"/>
            </a:solidFill>
            <a:prstDash val="solid"/>
          </a:ln>
        </p:spPr>
      </p:sp>
      <p:sp>
        <p:nvSpPr>
          <p:cNvPr id="8" name="Shape 5"/>
          <p:cNvSpPr/>
          <p:nvPr/>
        </p:nvSpPr>
        <p:spPr>
          <a:xfrm>
            <a:off x="457200" y="5257800"/>
            <a:ext cx="64008" cy="1051560"/>
          </a:xfrm>
          <a:prstGeom prst="rect">
            <a:avLst/>
          </a:prstGeom>
          <a:solidFill>
            <a:srgbClr val="B11F4B"/>
          </a:solidFill>
          <a:ln w="12700">
            <a:solidFill>
              <a:srgbClr val="B11F4B"/>
            </a:solidFill>
            <a:prstDash val="solid"/>
          </a:ln>
        </p:spPr>
      </p:sp>
      <p:sp>
        <p:nvSpPr>
          <p:cNvPr id="9" name="Text 6"/>
          <p:cNvSpPr/>
          <p:nvPr/>
        </p:nvSpPr>
        <p:spPr>
          <a:xfrm>
            <a:off x="685800" y="5394960"/>
            <a:ext cx="10865815" cy="777240"/>
          </a:xfrm>
          <a:prstGeom prst="rect">
            <a:avLst/>
          </a:prstGeom>
          <a:noFill/>
          <a:ln/>
        </p:spPr>
        <p:txBody>
          <a:bodyPr wrap="square" lIns="0" tIns="0" rIns="0" bIns="0" rtlCol="0" anchor="t"/>
          <a:lstStyle/>
          <a:p>
            <a:pPr indent="0" marL="0">
              <a:spcAft>
                <a:spcPts val="600"/>
              </a:spcAft>
              <a:buNone/>
            </a:pPr>
            <a:r>
              <a:rPr lang="en-US" sz="1300" b="1" dirty="0">
                <a:solidFill>
                  <a:srgbClr val="B11F4B"/>
                </a:solidFill>
                <a:latin typeface="Segoe UI" pitchFamily="34" charset="0"/>
                <a:ea typeface="Segoe UI" pitchFamily="34" charset="-122"/>
                <a:cs typeface="Segoe UI" pitchFamily="34" charset="-120"/>
              </a:rPr>
              <a:t>Talk track</a:t>
            </a:r>
            <a:endParaRPr lang="en-US" sz="1300" dirty="0"/>
          </a:p>
          <a:p>
            <a:pPr indent="0" marL="0">
              <a:spcAft>
                <a:spcPts val="600"/>
              </a:spcAft>
              <a:buNone/>
            </a:pPr>
            <a:r>
              <a:rPr lang="en-US" sz="1400" dirty="0">
                <a:solidFill>
                  <a:srgbClr val="242424"/>
                </a:solidFill>
                <a:latin typeface="Segoe UI" pitchFamily="34" charset="0"/>
                <a:ea typeface="Segoe UI" pitchFamily="34" charset="-122"/>
                <a:cs typeface="Segoe UI" pitchFamily="34" charset="-120"/>
              </a:rPr>
              <a:t>Not on this path: prompt/response policy evaluation. DLP verdicts and the prompt/response text in Activity explorer come from the Purview SDK (processContent), slide 9.</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9</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400" b="1" dirty="0">
                <a:solidFill>
                  <a:srgbClr val="242424"/>
                </a:solidFill>
                <a:latin typeface="Segoe UI" pitchFamily="34" charset="0"/>
                <a:ea typeface="Segoe UI" pitchFamily="34" charset="-122"/>
                <a:cs typeface="Segoe UI" pitchFamily="34" charset="-120"/>
              </a:rPr>
              <a:t>DLP via the Purview SDK: San Francisco allowed, Dallas blocked</a:t>
            </a:r>
            <a:endParaRPr lang="en-US" sz="24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05-phase2-dlp-ca.md · script: scripts/New-PurviewDlpDemo.ps1</a:t>
            </a:r>
            <a:endParaRPr lang="en-US" sz="1000" dirty="0"/>
          </a:p>
        </p:txBody>
      </p:sp>
      <p:pic>
        <p:nvPicPr>
          <p:cNvPr id="6" name="Image 0" descr="DLP via the Purview SDK: San Francisco allowed, Dallas blocked">    </p:cNvPr>
          <p:cNvPicPr>
            <a:picLocks noChangeAspect="1"/>
          </p:cNvPicPr>
          <p:nvPr/>
        </p:nvPicPr>
        <p:blipFill>
          <a:blip r:embed="rId1"/>
          <a:stretch>
            <a:fillRect/>
          </a:stretch>
        </p:blipFill>
        <p:spPr>
          <a:xfrm>
            <a:off x="457200" y="2827554"/>
            <a:ext cx="11277295" cy="17058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457200" y="347472"/>
            <a:ext cx="512064" cy="512064"/>
          </a:xfrm>
          <a:prstGeom prst="ellipse">
            <a:avLst/>
          </a:prstGeom>
          <a:solidFill>
            <a:srgbClr val="B11F4B"/>
          </a:solidFill>
          <a:ln w="12700">
            <a:solidFill>
              <a:srgbClr val="B11F4B"/>
            </a:solidFill>
            <a:prstDash val="solid"/>
          </a:ln>
        </p:spPr>
      </p:sp>
      <p:sp>
        <p:nvSpPr>
          <p:cNvPr id="3" name="Text 1"/>
          <p:cNvSpPr/>
          <p:nvPr/>
        </p:nvSpPr>
        <p:spPr>
          <a:xfrm>
            <a:off x="457200" y="3474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10</a:t>
            </a:r>
            <a:endParaRPr lang="en-US" sz="2000" dirty="0"/>
          </a:p>
        </p:txBody>
      </p:sp>
      <p:sp>
        <p:nvSpPr>
          <p:cNvPr id="4" name="Text 2"/>
          <p:cNvSpPr/>
          <p:nvPr/>
        </p:nvSpPr>
        <p:spPr>
          <a:xfrm>
            <a:off x="1143000" y="274320"/>
            <a:ext cx="10591495" cy="658368"/>
          </a:xfrm>
          <a:prstGeom prst="rect">
            <a:avLst/>
          </a:prstGeom>
          <a:noFill/>
          <a:ln/>
        </p:spPr>
        <p:txBody>
          <a:bodyPr wrap="square" lIns="0" tIns="0" rIns="0" bIns="0" rtlCol="0" anchor="ctr"/>
          <a:lstStyle/>
          <a:p>
            <a:pPr indent="0" marL="0">
              <a:buNone/>
            </a:pPr>
            <a:r>
              <a:rPr lang="en-US" sz="2400" b="1" dirty="0">
                <a:solidFill>
                  <a:srgbClr val="242424"/>
                </a:solidFill>
                <a:latin typeface="Segoe UI" pitchFamily="34" charset="0"/>
                <a:ea typeface="Segoe UI" pitchFamily="34" charset="-122"/>
                <a:cs typeface="Segoe UI" pitchFamily="34" charset="-120"/>
              </a:rPr>
              <a:t>Phase 2 (planned): Conditional Access, Alice allowed, Bob blocked</a:t>
            </a:r>
            <a:endParaRPr lang="en-US" sz="2400" dirty="0"/>
          </a:p>
        </p:txBody>
      </p:sp>
      <p:sp>
        <p:nvSpPr>
          <p:cNvPr id="5" name="Text 3"/>
          <p:cNvSpPr/>
          <p:nvPr/>
        </p:nvSpPr>
        <p:spPr>
          <a:xfrm>
            <a:off x="457200" y="6473952"/>
            <a:ext cx="11277295" cy="274320"/>
          </a:xfrm>
          <a:prstGeom prst="rect">
            <a:avLst/>
          </a:prstGeom>
          <a:noFill/>
          <a:ln/>
        </p:spPr>
        <p:txBody>
          <a:bodyPr wrap="square" lIns="0" tIns="0" rIns="0" bIns="0" rtlCol="0" anchor="ctr"/>
          <a:lstStyle/>
          <a:p>
            <a:pPr indent="0" marL="0">
              <a:buNone/>
            </a:pPr>
            <a:r>
              <a:rPr lang="en-US" sz="1000" dirty="0">
                <a:solidFill>
                  <a:srgbClr val="6F6F6F"/>
                </a:solidFill>
                <a:latin typeface="Segoe UI" pitchFamily="34" charset="0"/>
                <a:ea typeface="Segoe UI" pitchFamily="34" charset="-122"/>
                <a:cs typeface="Segoe UI" pitchFamily="34" charset="-120"/>
              </a:rPr>
              <a:t>Source: 05-phase2-dlp-ca.md</a:t>
            </a:r>
            <a:endParaRPr lang="en-US" sz="1000" dirty="0"/>
          </a:p>
        </p:txBody>
      </p:sp>
      <p:pic>
        <p:nvPicPr>
          <p:cNvPr id="6" name="Image 0" descr="Phase 2 (planned): Conditional Access, Alice allowed, Bob blocked">    </p:cNvPr>
          <p:cNvPicPr>
            <a:picLocks noChangeAspect="1"/>
          </p:cNvPicPr>
          <p:nvPr/>
        </p:nvPicPr>
        <p:blipFill>
          <a:blip r:embed="rId1"/>
          <a:stretch>
            <a:fillRect/>
          </a:stretch>
        </p:blipFill>
        <p:spPr>
          <a:xfrm>
            <a:off x="457200" y="2405424"/>
            <a:ext cx="11277295" cy="25500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365 third-party agent registry demo: diagrams</dc:title>
  <dc:subject>PptxGenJS Presentation</dc:subject>
  <dc:creator>Agent 365 Demo</dc:creator>
  <cp:lastModifiedBy>Agent 365 Demo</cp:lastModifiedBy>
  <cp:revision>1</cp:revision>
  <dcterms:created xsi:type="dcterms:W3CDTF">2026-10-09T15:16:14Z</dcterms:created>
  <dcterms:modified xsi:type="dcterms:W3CDTF">2026-10-09T15:16:14Z</dcterms:modified>
</cp:coreProperties>
</file>